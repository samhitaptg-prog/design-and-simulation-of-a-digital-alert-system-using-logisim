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6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64008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2A69AA"/>
                </a:solidFill>
                <a:latin typeface="Aptos"/>
              </a:defRPr>
            </a:pPr>
            <a:r>
              <a:t>DIGITAL DESIGN &amp; COMPUTER ARCHITECTURE  •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6492240" cy="1463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3100" b="1">
                <a:solidFill>
                  <a:srgbClr val="163055"/>
                </a:solidFill>
                <a:latin typeface="Aptos"/>
              </a:defRPr>
            </a:pPr>
            <a:r>
              <a:t>Where the Machine Keeps Things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063240"/>
            <a:ext cx="6217920" cy="8229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5E6C7C"/>
                </a:solidFill>
                <a:latin typeface="Aptos"/>
              </a:defRPr>
            </a:pPr>
            <a:r>
              <a:t>Registers, memory and the path from an address to stored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51960"/>
            <a:ext cx="1143000" cy="384048"/>
          </a:xfrm>
          <a:prstGeom prst="roundRect">
            <a:avLst/>
          </a:prstGeom>
          <a:solidFill>
            <a:srgbClr val="EBF3FA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4288536"/>
            <a:ext cx="1069848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2A69AA"/>
                </a:solidFill>
                <a:latin typeface="Aptos"/>
              </a:defRPr>
            </a:pPr>
            <a:r>
              <a:t>Registers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20824" y="4251960"/>
            <a:ext cx="1389888" cy="384048"/>
          </a:xfrm>
          <a:prstGeom prst="roundRect">
            <a:avLst/>
          </a:prstGeom>
          <a:solidFill>
            <a:srgbClr val="EBF3FA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4288536"/>
            <a:ext cx="1316736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2A69AA"/>
                </a:solidFill>
                <a:latin typeface="Aptos"/>
              </a:defRPr>
            </a:pPr>
            <a:r>
              <a:t>Register 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57015" y="4251960"/>
            <a:ext cx="1143000" cy="384048"/>
          </a:xfrm>
          <a:prstGeom prst="roundRect">
            <a:avLst/>
          </a:prstGeom>
          <a:solidFill>
            <a:srgbClr val="EBF3FA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1" y="4288536"/>
            <a:ext cx="1069848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2A69AA"/>
                </a:solidFill>
                <a:latin typeface="Aptos"/>
              </a:defRPr>
            </a:pPr>
            <a:r>
              <a:t>RAM &amp; ROM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4251960"/>
            <a:ext cx="1636776" cy="384048"/>
          </a:xfrm>
          <a:prstGeom prst="roundRect">
            <a:avLst/>
          </a:prstGeom>
          <a:solidFill>
            <a:srgbClr val="EBF3FA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82896" y="4288536"/>
            <a:ext cx="1563624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2A69AA"/>
                </a:solidFill>
                <a:latin typeface="Aptos"/>
              </a:defRPr>
            </a:pPr>
            <a:r>
              <a:t>Memory hierarchy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08760"/>
            <a:ext cx="2377440" cy="731520"/>
          </a:xfrm>
          <a:prstGeom prst="roundRect">
            <a:avLst/>
          </a:prstGeom>
          <a:solidFill>
            <a:srgbClr val="163055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536192"/>
            <a:ext cx="2286000" cy="67665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CPU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2743200"/>
            <a:ext cx="1554480" cy="658368"/>
          </a:xfrm>
          <a:prstGeom prst="roundRect">
            <a:avLst/>
          </a:prstGeom>
          <a:solidFill>
            <a:srgbClr val="EBF3FA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80" y="2770632"/>
            <a:ext cx="1463039" cy="603503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63055"/>
                </a:solidFill>
                <a:latin typeface="Aptos"/>
              </a:defRPr>
            </a:pPr>
            <a:r>
              <a:t>REGISTERS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2743200"/>
            <a:ext cx="1554480" cy="658368"/>
          </a:xfrm>
          <a:prstGeom prst="roundRect">
            <a:avLst/>
          </a:prstGeom>
          <a:solidFill>
            <a:srgbClr val="EBF3FA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20" y="2770632"/>
            <a:ext cx="1463039" cy="603503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63055"/>
                </a:solidFill>
                <a:latin typeface="Aptos"/>
              </a:defRPr>
            </a:pPr>
            <a:r>
              <a:t>MEMORY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8458200" y="2240280"/>
            <a:ext cx="457200" cy="50292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829800" y="2240280"/>
            <a:ext cx="457200" cy="50292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6080760"/>
            <a:ext cx="68580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5E6C7C"/>
                </a:solidFill>
                <a:latin typeface="Aptos"/>
              </a:defRPr>
            </a:pPr>
            <a:r>
              <a:t>Concepts → architecture → working computer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10528"/>
            <a:ext cx="89611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E6C7C"/>
                </a:solidFill>
                <a:latin typeface="Aptos"/>
              </a:defRPr>
            </a:pPr>
            <a:r>
              <a:t>DDCA  •  Module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92240"/>
            <a:ext cx="457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E6C7C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6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06424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3055"/>
                </a:solidFill>
                <a:latin typeface="Aptos"/>
              </a:defRPr>
            </a:pPr>
            <a:r>
              <a:t>1. Why does a CPU need storage?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E6C7C"/>
                </a:solidFill>
                <a:latin typeface="Aptos"/>
              </a:defRPr>
            </a:pPr>
            <a:r>
              <a:t>Registers and memory hold the values that instructions use.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52760" y="201168"/>
            <a:ext cx="960120" cy="384048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80192" y="228600"/>
            <a:ext cx="905256" cy="2926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2A69AA"/>
                </a:solidFill>
                <a:latin typeface="Aptos"/>
              </a:defRPr>
            </a:pPr>
            <a:r>
              <a:t>MODULE 4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143000"/>
            <a:ext cx="11155680" cy="22860"/>
          </a:xfrm>
          <a:prstGeom prst="rect">
            <a:avLst/>
          </a:prstGeom>
          <a:solidFill>
            <a:srgbClr val="D2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3383280" cy="1874519"/>
          </a:xfrm>
          <a:prstGeom prst="roundRect">
            <a:avLst/>
          </a:prstGeom>
          <a:solidFill>
            <a:srgbClr val="F5F8FC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64008" cy="1874519"/>
          </a:xfrm>
          <a:prstGeom prst="rect">
            <a:avLst/>
          </a:prstGeom>
          <a:solidFill>
            <a:srgbClr val="36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618488"/>
            <a:ext cx="31089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3055"/>
                </a:solidFill>
                <a:latin typeface="Aptos"/>
              </a:defRPr>
            </a:pPr>
            <a:r>
              <a:t>Registers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020824"/>
            <a:ext cx="3090672" cy="1307591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6303C"/>
                </a:solidFill>
                <a:latin typeface="Aptos"/>
              </a:defRPr>
            </a:pPr>
            <a:r>
              <a:t>Very small, very fast storage inside the CPU.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6303C"/>
                </a:solidFill>
                <a:latin typeface="Aptos"/>
              </a:defRPr>
            </a:pPr>
            <a:r>
              <a:t>Hold values being used right now.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383280" cy="1874519"/>
          </a:xfrm>
          <a:prstGeom prst="roundRect">
            <a:avLst/>
          </a:prstGeom>
          <a:solidFill>
            <a:srgbClr val="F5F8FC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508760"/>
            <a:ext cx="64008" cy="1874519"/>
          </a:xfrm>
          <a:prstGeom prst="rect">
            <a:avLst/>
          </a:prstGeom>
          <a:solidFill>
            <a:srgbClr val="2A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18488"/>
            <a:ext cx="31089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3055"/>
                </a:solidFill>
                <a:latin typeface="Aptos"/>
              </a:defRPr>
            </a:pPr>
            <a:r>
              <a:t>Main memory (RAM)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020824"/>
            <a:ext cx="3090672" cy="1307591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6303C"/>
                </a:solidFill>
                <a:latin typeface="Aptos"/>
              </a:defRPr>
            </a:pPr>
            <a:r>
              <a:t>Stores the program and data currently in use.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6303C"/>
                </a:solidFill>
                <a:latin typeface="Aptos"/>
              </a:defRPr>
            </a:pPr>
            <a:r>
              <a:t>Larger than registers, but slower.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508760"/>
            <a:ext cx="3383280" cy="1874519"/>
          </a:xfrm>
          <a:prstGeom prst="roundRect">
            <a:avLst/>
          </a:prstGeom>
          <a:solidFill>
            <a:srgbClr val="F5F8FC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508760"/>
            <a:ext cx="64008" cy="1874519"/>
          </a:xfrm>
          <a:prstGeom prst="rect">
            <a:avLst/>
          </a:prstGeom>
          <a:solidFill>
            <a:srgbClr val="EE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618488"/>
            <a:ext cx="31089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3055"/>
                </a:solidFill>
                <a:latin typeface="Aptos"/>
              </a:defRPr>
            </a:pPr>
            <a:r>
              <a:t>Read-only memory (ROM)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020824"/>
            <a:ext cx="3090672" cy="1307591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6303C"/>
                </a:solidFill>
                <a:latin typeface="Aptos"/>
              </a:defRPr>
            </a:pPr>
            <a:r>
              <a:t>Stores fixed instructions or constants in systems that use ROM.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206240"/>
            <a:ext cx="2194560" cy="731520"/>
          </a:xfrm>
          <a:prstGeom prst="roundRect">
            <a:avLst/>
          </a:prstGeom>
          <a:solidFill>
            <a:srgbClr val="EBF3FA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233672"/>
            <a:ext cx="2103120" cy="67665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63055"/>
                </a:solidFill>
                <a:latin typeface="Aptos"/>
              </a:defRPr>
            </a:pPr>
            <a:r>
              <a:t>CPU registers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429000" y="4572000"/>
            <a:ext cx="868680" cy="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434840" y="4206240"/>
            <a:ext cx="2194560" cy="731520"/>
          </a:xfrm>
          <a:prstGeom prst="roundRect">
            <a:avLst/>
          </a:prstGeom>
          <a:solidFill>
            <a:srgbClr val="EBF3FA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59" y="4233672"/>
            <a:ext cx="2103120" cy="67665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63055"/>
                </a:solidFill>
                <a:latin typeface="Aptos"/>
              </a:defRPr>
            </a:pPr>
            <a:r>
              <a:t>Main memory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766560" y="4572000"/>
            <a:ext cx="868680" cy="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772400" y="4206240"/>
            <a:ext cx="2560320" cy="731520"/>
          </a:xfrm>
          <a:prstGeom prst="roundRect">
            <a:avLst/>
          </a:prstGeom>
          <a:solidFill>
            <a:srgbClr val="EBF3FA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20" y="4233672"/>
            <a:ext cx="2468879" cy="67665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63055"/>
                </a:solidFill>
                <a:latin typeface="Aptos"/>
              </a:defRPr>
            </a:pPr>
            <a:r>
              <a:t>Long-term storage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257800"/>
            <a:ext cx="987552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3055"/>
                </a:solidFill>
                <a:latin typeface="Aptos"/>
              </a:defRPr>
            </a:pPr>
            <a:r>
              <a:t>Key idea: the closer storage is to the CPU, the faster and smaller it usually is.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10528"/>
            <a:ext cx="89611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E6C7C"/>
                </a:solidFill>
                <a:latin typeface="Aptos"/>
              </a:defRPr>
            </a:pPr>
            <a:r>
              <a:t>DDCA  •  Module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92240"/>
            <a:ext cx="457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E6C7C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6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06424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3055"/>
                </a:solidFill>
                <a:latin typeface="Aptos"/>
              </a:defRPr>
            </a:pPr>
            <a:r>
              <a:t>2. The register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E6C7C"/>
                </a:solidFill>
                <a:latin typeface="Aptos"/>
              </a:defRPr>
            </a:pPr>
            <a:r>
              <a:t>A collection of CPU registers that instructions can read and write.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52760" y="201168"/>
            <a:ext cx="960120" cy="384048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80192" y="228600"/>
            <a:ext cx="905256" cy="2926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2A69AA"/>
                </a:solidFill>
                <a:latin typeface="Aptos"/>
              </a:defRPr>
            </a:pPr>
            <a:r>
              <a:t>MODULE 4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143000"/>
            <a:ext cx="11155680" cy="22860"/>
          </a:xfrm>
          <a:prstGeom prst="rect">
            <a:avLst/>
          </a:prstGeom>
          <a:solidFill>
            <a:srgbClr val="D2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828800" cy="640080"/>
          </a:xfrm>
          <a:prstGeom prst="roundRect">
            <a:avLst/>
          </a:prstGeom>
          <a:solidFill>
            <a:srgbClr val="EBF3FA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56231"/>
            <a:ext cx="1737360" cy="585215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63055"/>
                </a:solidFill>
                <a:latin typeface="Aptos"/>
              </a:defRPr>
            </a:pPr>
            <a:r>
              <a:t>Read address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1828800" cy="640080"/>
          </a:xfrm>
          <a:prstGeom prst="roundRect">
            <a:avLst/>
          </a:prstGeom>
          <a:solidFill>
            <a:srgbClr val="EBF3FA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953512"/>
            <a:ext cx="1737360" cy="585215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63055"/>
                </a:solidFill>
                <a:latin typeface="Aptos"/>
              </a:defRPr>
            </a:pPr>
            <a:r>
              <a:t>Read address 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1828800" cy="640080"/>
          </a:xfrm>
          <a:prstGeom prst="roundRect">
            <a:avLst/>
          </a:prstGeom>
          <a:solidFill>
            <a:srgbClr val="EBF3FA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050792"/>
            <a:ext cx="1737360" cy="585215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63055"/>
                </a:solidFill>
                <a:latin typeface="Aptos"/>
              </a:defRPr>
            </a:pPr>
            <a:r>
              <a:t>Write address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2331720"/>
            <a:ext cx="2743200" cy="1508760"/>
          </a:xfrm>
          <a:prstGeom prst="roundRect">
            <a:avLst/>
          </a:prstGeom>
          <a:solidFill>
            <a:srgbClr val="163055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2359151"/>
            <a:ext cx="2651760" cy="1453895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REGISTER FILE</a:t>
            </a:r>
          </a:p>
          <a:p>
            <a:pPr algn="ctr">
              <a:spcAft>
                <a:spcPts val="500"/>
              </a:spcAft>
              <a:defRPr sz="1800" b="1">
                <a:solidFill>
                  <a:srgbClr val="FFFFFF"/>
                </a:solidFill>
                <a:latin typeface="Aptos"/>
              </a:defRPr>
            </a:pPr>
          </a:p>
          <a:p>
            <a:pPr algn="ctr">
              <a:spcAft>
                <a:spcPts val="5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Stores multiple</a:t>
            </a:r>
          </a:p>
          <a:p>
            <a:pPr algn="ctr">
              <a:spcAft>
                <a:spcPts val="5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CPU values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828800"/>
            <a:ext cx="2468880" cy="640080"/>
          </a:xfrm>
          <a:prstGeom prst="roundRect">
            <a:avLst/>
          </a:prstGeom>
          <a:solidFill>
            <a:srgbClr val="EBF3FA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856231"/>
            <a:ext cx="2377440" cy="585215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63055"/>
                </a:solidFill>
                <a:latin typeface="Aptos"/>
              </a:defRPr>
            </a:pPr>
            <a:r>
              <a:t>Read data 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2926080"/>
            <a:ext cx="2468880" cy="640080"/>
          </a:xfrm>
          <a:prstGeom prst="roundRect">
            <a:avLst/>
          </a:prstGeom>
          <a:solidFill>
            <a:srgbClr val="EBF3FA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953512"/>
            <a:ext cx="2377440" cy="585215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63055"/>
                </a:solidFill>
                <a:latin typeface="Aptos"/>
              </a:defRPr>
            </a:pPr>
            <a:r>
              <a:t>Read data 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4023360"/>
            <a:ext cx="2468880" cy="640080"/>
          </a:xfrm>
          <a:prstGeom prst="roundRect">
            <a:avLst/>
          </a:prstGeom>
          <a:solidFill>
            <a:srgbClr val="EBF3FA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4050792"/>
            <a:ext cx="2377440" cy="585215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63055"/>
                </a:solidFill>
                <a:latin typeface="Aptos"/>
              </a:defRPr>
            </a:pPr>
            <a:r>
              <a:t>Write data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560320" y="2148840"/>
            <a:ext cx="1097280" cy="50292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560320" y="3017520"/>
            <a:ext cx="1097280" cy="22860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560320" y="3611880"/>
            <a:ext cx="1097280" cy="73152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400800" y="2148840"/>
            <a:ext cx="1828800" cy="50292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400800" y="3063240"/>
            <a:ext cx="1828800" cy="18288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6400800" y="3611880"/>
            <a:ext cx="1828800" cy="73152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22960" y="5257800"/>
            <a:ext cx="1024128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6303C"/>
                </a:solidFill>
                <a:latin typeface="Aptos"/>
              </a:defRPr>
            </a:pPr>
            <a:r>
              <a:t>A typical register file can provide two values to an instruction and write one result back.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10528"/>
            <a:ext cx="89611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E6C7C"/>
                </a:solidFill>
                <a:latin typeface="Aptos"/>
              </a:defRPr>
            </a:pPr>
            <a:r>
              <a:t>DDCA  •  Module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92240"/>
            <a:ext cx="457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E6C7C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6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06424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3055"/>
                </a:solidFill>
                <a:latin typeface="Aptos"/>
              </a:defRPr>
            </a:pPr>
            <a:r>
              <a:t>3. How memory is organised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E6C7C"/>
                </a:solidFill>
                <a:latin typeface="Aptos"/>
              </a:defRPr>
            </a:pPr>
            <a:r>
              <a:t>Addresses identify locations; data is the information stored there.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52760" y="201168"/>
            <a:ext cx="960120" cy="384048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80192" y="228600"/>
            <a:ext cx="905256" cy="2926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2A69AA"/>
                </a:solidFill>
                <a:latin typeface="Aptos"/>
              </a:defRPr>
            </a:pPr>
            <a:r>
              <a:t>MODULE 4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143000"/>
            <a:ext cx="11155680" cy="22860"/>
          </a:xfrm>
          <a:prstGeom prst="rect">
            <a:avLst/>
          </a:prstGeom>
          <a:solidFill>
            <a:srgbClr val="D2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2011680" cy="731520"/>
          </a:xfrm>
          <a:prstGeom prst="roundRect">
            <a:avLst/>
          </a:prstGeom>
          <a:solidFill>
            <a:srgbClr val="EBF3FA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56231"/>
            <a:ext cx="1920240" cy="67665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63055"/>
                </a:solidFill>
                <a:latin typeface="Aptos"/>
              </a:defRPr>
            </a:pPr>
            <a:r>
              <a:t>Address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360" y="2194560"/>
            <a:ext cx="914400" cy="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86200" y="1783080"/>
            <a:ext cx="2834640" cy="822960"/>
          </a:xfrm>
          <a:prstGeom prst="roundRect">
            <a:avLst/>
          </a:prstGeom>
          <a:solidFill>
            <a:srgbClr val="163055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1810512"/>
            <a:ext cx="2743200" cy="7680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Memory location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12280" y="2194560"/>
            <a:ext cx="868680" cy="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772400" y="1828800"/>
            <a:ext cx="2377440" cy="731520"/>
          </a:xfrm>
          <a:prstGeom prst="roundRect">
            <a:avLst/>
          </a:prstGeom>
          <a:solidFill>
            <a:srgbClr val="EBF3FA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1856231"/>
            <a:ext cx="2286000" cy="67665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63055"/>
                </a:solidFill>
                <a:latin typeface="Aptos"/>
              </a:defRPr>
            </a:pPr>
            <a:r>
              <a:t>Stored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383280"/>
            <a:ext cx="4754880" cy="1508760"/>
          </a:xfrm>
          <a:prstGeom prst="roundRect">
            <a:avLst/>
          </a:prstGeom>
          <a:solidFill>
            <a:srgbClr val="F5F8FC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3383280"/>
            <a:ext cx="64008" cy="1508760"/>
          </a:xfrm>
          <a:prstGeom prst="rect">
            <a:avLst/>
          </a:prstGeom>
          <a:solidFill>
            <a:srgbClr val="36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493008"/>
            <a:ext cx="44805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3055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3895344"/>
            <a:ext cx="4462272" cy="941831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6303C"/>
                </a:solidFill>
                <a:latin typeface="Aptos"/>
              </a:defRPr>
            </a:pPr>
            <a:r>
              <a:t>Give memory an address → memory returns the data stored there.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383280"/>
            <a:ext cx="4754880" cy="1508760"/>
          </a:xfrm>
          <a:prstGeom prst="roundRect">
            <a:avLst/>
          </a:prstGeom>
          <a:solidFill>
            <a:srgbClr val="F5F8FC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3383280"/>
            <a:ext cx="64008" cy="1508760"/>
          </a:xfrm>
          <a:prstGeom prst="rect">
            <a:avLst/>
          </a:prstGeom>
          <a:solidFill>
            <a:srgbClr val="EE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3493008"/>
            <a:ext cx="44805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3055"/>
                </a:solidFill>
                <a:latin typeface="Aptos"/>
              </a:defRPr>
            </a:pPr>
            <a:r>
              <a:t>Write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3895344"/>
            <a:ext cx="4462272" cy="941831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6303C"/>
                </a:solidFill>
                <a:latin typeface="Aptos"/>
              </a:defRPr>
            </a:pPr>
            <a:r>
              <a:t>Give an address and data → memory stores that data at the location.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394960"/>
            <a:ext cx="103327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5E6C7C"/>
                </a:solidFill>
                <a:latin typeface="Aptos"/>
              </a:defRPr>
            </a:pPr>
            <a:r>
              <a:t>Memory is organised into locations. Each location has an address, and each address refers to stored information.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10528"/>
            <a:ext cx="89611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E6C7C"/>
                </a:solidFill>
                <a:latin typeface="Aptos"/>
              </a:defRPr>
            </a:pPr>
            <a:r>
              <a:t>DDCA  •  Module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92240"/>
            <a:ext cx="457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E6C7C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6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06424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3055"/>
                </a:solidFill>
                <a:latin typeface="Aptos"/>
              </a:defRPr>
            </a:pPr>
            <a:r>
              <a:t>4. Why do we need a memory hierarchy?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E6C7C"/>
                </a:solidFill>
                <a:latin typeface="Aptos"/>
              </a:defRPr>
            </a:pPr>
            <a:r>
              <a:t>Different storage levels balance speed, size and cost.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52760" y="201168"/>
            <a:ext cx="960120" cy="384048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80192" y="228600"/>
            <a:ext cx="905256" cy="2926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2A69AA"/>
                </a:solidFill>
                <a:latin typeface="Aptos"/>
              </a:defRPr>
            </a:pPr>
            <a:r>
              <a:t>MODULE 4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143000"/>
            <a:ext cx="11155680" cy="22860"/>
          </a:xfrm>
          <a:prstGeom prst="rect">
            <a:avLst/>
          </a:prstGeom>
          <a:solidFill>
            <a:srgbClr val="D2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22876" y="1554480"/>
            <a:ext cx="2743200" cy="621792"/>
          </a:xfrm>
          <a:prstGeom prst="roundRect">
            <a:avLst/>
          </a:prstGeom>
          <a:solidFill>
            <a:srgbClr val="163055"/>
          </a:solidFill>
          <a:ln>
            <a:solidFill>
              <a:srgbClr val="16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96028" y="1591056"/>
            <a:ext cx="2596896" cy="2468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Registers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96028" y="1865376"/>
            <a:ext cx="2596896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Fastest • smallest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54196" y="2423160"/>
            <a:ext cx="4480560" cy="621792"/>
          </a:xfrm>
          <a:prstGeom prst="roundRect">
            <a:avLst/>
          </a:prstGeom>
          <a:solidFill>
            <a:srgbClr val="2A69AA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27348" y="2459736"/>
            <a:ext cx="4334256" cy="2468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Cache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27348" y="2734056"/>
            <a:ext cx="4334256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Very fast • small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85516" y="3291839"/>
            <a:ext cx="6217920" cy="621792"/>
          </a:xfrm>
          <a:prstGeom prst="roundRect">
            <a:avLst/>
          </a:prstGeom>
          <a:solidFill>
            <a:srgbClr val="36AEBE"/>
          </a:solidFill>
          <a:ln>
            <a:solidFill>
              <a:srgbClr val="36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8668" y="3328415"/>
            <a:ext cx="6071616" cy="2468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Main memory (RAM)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8668" y="3602735"/>
            <a:ext cx="6071616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Larger • slower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16836" y="4160520"/>
            <a:ext cx="7955279" cy="621792"/>
          </a:xfrm>
          <a:prstGeom prst="roundRect">
            <a:avLst/>
          </a:prstGeom>
          <a:solidFill>
            <a:srgbClr val="EEB848"/>
          </a:solidFill>
          <a:ln>
            <a:solidFill>
              <a:srgbClr val="EEB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89988" y="4197096"/>
            <a:ext cx="7808975" cy="2468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63055"/>
                </a:solidFill>
                <a:latin typeface="Aptos"/>
              </a:defRPr>
            </a:pPr>
            <a:r>
              <a:t>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89988" y="4471416"/>
            <a:ext cx="7808975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163055"/>
                </a:solidFill>
                <a:latin typeface="Aptos"/>
              </a:defRPr>
            </a:pPr>
            <a:r>
              <a:t>Largest • slowest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394960"/>
            <a:ext cx="100584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6303C"/>
                </a:solidFill>
                <a:latin typeface="Aptos"/>
              </a:defRPr>
            </a:pPr>
            <a:r>
              <a:t>The hierarchy helps the CPU access frequently used information quickly without making all storage expensive.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10528"/>
            <a:ext cx="89611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E6C7C"/>
                </a:solidFill>
                <a:latin typeface="Aptos"/>
              </a:defRPr>
            </a:pPr>
            <a:r>
              <a:t>DDCA  •  Module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92240"/>
            <a:ext cx="457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E6C7C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6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06424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3055"/>
                </a:solidFill>
                <a:latin typeface="Aptos"/>
              </a:defRPr>
            </a:pPr>
            <a:r>
              <a:t>5. The memory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E6C7C"/>
                </a:solidFill>
                <a:latin typeface="Aptos"/>
              </a:defRPr>
            </a:pPr>
            <a:r>
              <a:t>The CPU can be fast, but it still has to wait for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52760" y="201168"/>
            <a:ext cx="960120" cy="384048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80192" y="228600"/>
            <a:ext cx="905256" cy="2926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2A69AA"/>
                </a:solidFill>
                <a:latin typeface="Aptos"/>
              </a:defRPr>
            </a:pPr>
            <a:r>
              <a:t>MODULE 4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143000"/>
            <a:ext cx="11155680" cy="22860"/>
          </a:xfrm>
          <a:prstGeom prst="rect">
            <a:avLst/>
          </a:prstGeom>
          <a:solidFill>
            <a:srgbClr val="D2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103120"/>
            <a:ext cx="2194560" cy="914400"/>
          </a:xfrm>
          <a:prstGeom prst="roundRect">
            <a:avLst/>
          </a:prstGeom>
          <a:solidFill>
            <a:srgbClr val="163055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30551"/>
            <a:ext cx="2103120" cy="85953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CPU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63240" y="2560320"/>
            <a:ext cx="1508760" cy="0"/>
          </a:xfrm>
          <a:prstGeom prst="line">
            <a:avLst/>
          </a:prstGeom>
          <a:ln w="38100">
            <a:solidFill>
              <a:srgbClr val="BE4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663440" y="2057400"/>
            <a:ext cx="2743200" cy="1005840"/>
          </a:xfrm>
          <a:prstGeom prst="roundRect">
            <a:avLst/>
          </a:prstGeom>
          <a:solidFill>
            <a:srgbClr val="EBF3FA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59" y="2084831"/>
            <a:ext cx="2651760" cy="95097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63055"/>
                </a:solidFill>
                <a:latin typeface="Aptos"/>
              </a:defRPr>
            </a:pPr>
            <a:r>
              <a:t>Memory system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98079" y="2560320"/>
            <a:ext cx="1508761" cy="0"/>
          </a:xfrm>
          <a:prstGeom prst="line">
            <a:avLst/>
          </a:prstGeom>
          <a:ln w="38100">
            <a:solidFill>
              <a:srgbClr val="BE4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098280" y="2103120"/>
            <a:ext cx="2011680" cy="914400"/>
          </a:xfrm>
          <a:prstGeom prst="roundRect">
            <a:avLst/>
          </a:prstGeom>
          <a:solidFill>
            <a:srgbClr val="EBF3FA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2130551"/>
            <a:ext cx="1920240" cy="85953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163055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657600"/>
            <a:ext cx="4663440" cy="1280160"/>
          </a:xfrm>
          <a:prstGeom prst="roundRect">
            <a:avLst/>
          </a:prstGeom>
          <a:solidFill>
            <a:srgbClr val="F5F8FC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657600"/>
            <a:ext cx="64008" cy="1280160"/>
          </a:xfrm>
          <a:prstGeom prst="rect">
            <a:avLst/>
          </a:prstGeom>
          <a:solidFill>
            <a:srgbClr val="BE4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767328"/>
            <a:ext cx="43891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3055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4169664"/>
            <a:ext cx="4370831" cy="713231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6303C"/>
                </a:solidFill>
                <a:latin typeface="Aptos"/>
              </a:defRPr>
            </a:pPr>
            <a:r>
              <a:t>CPU performance can be limited by the rate at which instructions and data arrive.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657600"/>
            <a:ext cx="4663440" cy="1280160"/>
          </a:xfrm>
          <a:prstGeom prst="roundRect">
            <a:avLst/>
          </a:prstGeom>
          <a:solidFill>
            <a:srgbClr val="F5F8FC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657600"/>
            <a:ext cx="64008" cy="1280160"/>
          </a:xfrm>
          <a:prstGeom prst="rect">
            <a:avLst/>
          </a:prstGeom>
          <a:solidFill>
            <a:srgbClr val="40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3767328"/>
            <a:ext cx="43891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3055"/>
                </a:solidFill>
                <a:latin typeface="Aptos"/>
              </a:defRPr>
            </a:pPr>
            <a:r>
              <a:t>One way to help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4169664"/>
            <a:ext cx="4370831" cy="713231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6303C"/>
                </a:solidFill>
                <a:latin typeface="Aptos"/>
              </a:defRPr>
            </a:pPr>
            <a:r>
              <a:t>Caches keep copies of frequently used data closer to the CPU.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10528"/>
            <a:ext cx="89611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E6C7C"/>
                </a:solidFill>
                <a:latin typeface="Aptos"/>
              </a:defRPr>
            </a:pPr>
            <a:r>
              <a:t>DDCA  •  Module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92240"/>
            <a:ext cx="457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E6C7C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