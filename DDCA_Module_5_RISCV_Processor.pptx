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731520"/>
            <a:ext cx="640080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2A69AA"/>
                </a:solidFill>
                <a:latin typeface="Aptos"/>
              </a:defRPr>
            </a:pPr>
            <a:r>
              <a:t>DIGITAL DESIGN &amp; COMPUTER ARCHITECTURE  •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6492240" cy="1463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3100" b="1">
                <a:solidFill>
                  <a:srgbClr val="163055"/>
                </a:solidFill>
                <a:latin typeface="Aptos"/>
              </a:defRPr>
            </a:pPr>
            <a:r>
              <a:t>The RISC-V Processor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063240"/>
            <a:ext cx="621792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0">
                <a:solidFill>
                  <a:srgbClr val="5E6C7C"/>
                </a:solidFill>
                <a:latin typeface="Aptos"/>
              </a:defRPr>
            </a:pPr>
            <a:r>
              <a:t>How instructions, datapath and control work together to execute a program.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114300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4288536"/>
            <a:ext cx="10698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RV32I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0824" y="4251960"/>
            <a:ext cx="1554479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57400" y="4288536"/>
            <a:ext cx="1481327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Instruction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21607" y="4251960"/>
            <a:ext cx="114300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8183" y="4288536"/>
            <a:ext cx="1069848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Datapath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0912" y="4251960"/>
            <a:ext cx="1307592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7488" y="4288536"/>
            <a:ext cx="1234440" cy="274320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Control unit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508760"/>
            <a:ext cx="2377440" cy="731520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36192"/>
            <a:ext cx="2286000" cy="67665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2000" b="1">
                <a:solidFill>
                  <a:srgbClr val="FFFFFF"/>
                </a:solidFill>
                <a:latin typeface="Aptos"/>
              </a:defRPr>
            </a:pPr>
            <a:r>
              <a:t>CPU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80960" y="2743200"/>
            <a:ext cx="15544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2770632"/>
            <a:ext cx="1463039" cy="603503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055"/>
                </a:solidFill>
                <a:latin typeface="Aptos"/>
              </a:defRPr>
            </a:pPr>
            <a:r>
              <a:t>REGISTERS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743200"/>
            <a:ext cx="155448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46920" y="2770632"/>
            <a:ext cx="1463039" cy="603503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055"/>
                </a:solidFill>
                <a:latin typeface="Aptos"/>
              </a:defRPr>
            </a:pPr>
            <a:r>
              <a:t>MEMORY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8458200" y="2240280"/>
            <a:ext cx="457200" cy="50292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829800" y="2240280"/>
            <a:ext cx="457200" cy="50292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1520" y="6080760"/>
            <a:ext cx="68580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5E6C7C"/>
                </a:solidFill>
                <a:latin typeface="Aptos"/>
              </a:defRPr>
            </a:pPr>
            <a:r>
              <a:t>Concepts → architecture → working computer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1. What is an instruction set architecture?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ISA is the agreement between software and the processor.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965960"/>
            <a:ext cx="2468880" cy="91440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93391"/>
            <a:ext cx="2377440" cy="8595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Program / software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383280" y="2423160"/>
            <a:ext cx="11887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63440" y="1874519"/>
            <a:ext cx="2743200" cy="1097280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1901951"/>
            <a:ext cx="2651760" cy="1042415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Instruction Set</a:t>
            </a:r>
          </a:p>
          <a:p>
            <a:pPr algn="ctr">
              <a:spcAft>
                <a:spcPts val="5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Architecture (ISA)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498079" y="2423160"/>
            <a:ext cx="1097281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0" y="1965960"/>
            <a:ext cx="2468880" cy="91440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1993391"/>
            <a:ext cx="2377440" cy="8595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CPU hardware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657600"/>
            <a:ext cx="475488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3657600"/>
            <a:ext cx="64008" cy="141732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767328"/>
            <a:ext cx="4480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RISC-V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169664"/>
            <a:ext cx="4462272" cy="8503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An open instruction set architecture used for teaching and processor design.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57600"/>
            <a:ext cx="4754880" cy="141732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0" y="3657600"/>
            <a:ext cx="64008" cy="1417320"/>
          </a:xfrm>
          <a:prstGeom prst="rect">
            <a:avLst/>
          </a:prstGeom>
          <a:solidFill>
            <a:srgbClr val="2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65392" y="3767328"/>
            <a:ext cx="4480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RV32I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4169664"/>
            <a:ext cx="4462272" cy="8503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A base RISC-V instruction set with 32-bit integer registers and core instructions.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2. What instructions can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Most beginner examples fit into a few useful groups.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38328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554480"/>
            <a:ext cx="64008" cy="132588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664207"/>
            <a:ext cx="3108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Arithmetic /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066543"/>
            <a:ext cx="3090672" cy="7589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ADD, SUB, AND, OR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Calculate or compare values.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554480"/>
            <a:ext cx="64008" cy="1325880"/>
          </a:xfrm>
          <a:prstGeom prst="rect">
            <a:avLst/>
          </a:prstGeom>
          <a:solidFill>
            <a:srgbClr val="2A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1664207"/>
            <a:ext cx="3108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Memory access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066543"/>
            <a:ext cx="3090672" cy="7589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LW, SW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Load a value from memory or store a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554480"/>
            <a:ext cx="338328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554480"/>
            <a:ext cx="64008" cy="1325880"/>
          </a:xfrm>
          <a:prstGeom prst="rect">
            <a:avLst/>
          </a:prstGeom>
          <a:solidFill>
            <a:srgbClr val="EE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1312" y="1664207"/>
            <a:ext cx="31089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Control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2066543"/>
            <a:ext cx="3090672" cy="75895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BEQ, JAL</a:t>
            </a:r>
          </a:p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Choose the next instruction or jump.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429000"/>
            <a:ext cx="100584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Example idea: an instruction names an operation and the registers or values it uses.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343400"/>
            <a:ext cx="228600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370832"/>
            <a:ext cx="219456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055"/>
                </a:solidFill>
                <a:latin typeface="Aptos"/>
              </a:defRPr>
            </a:pPr>
            <a:r>
              <a:t>Fetch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474720" y="4727448"/>
            <a:ext cx="64008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4206240" y="4343400"/>
            <a:ext cx="228600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51959" y="4370832"/>
            <a:ext cx="219456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055"/>
                </a:solidFill>
                <a:latin typeface="Aptos"/>
              </a:defRPr>
            </a:pPr>
            <a:r>
              <a:t>Decode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0" y="4727448"/>
            <a:ext cx="64008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0" y="4343400"/>
            <a:ext cx="228600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20" y="4370832"/>
            <a:ext cx="219456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3055"/>
                </a:solidFill>
                <a:latin typeface="Aptos"/>
              </a:defRPr>
            </a:pPr>
            <a:r>
              <a:t>Execute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692640" y="4727448"/>
            <a:ext cx="59436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332720" y="4343400"/>
            <a:ext cx="100584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4370832"/>
            <a:ext cx="91440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163055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3. Inside the processor: datapath +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The datapath moves and processes values; control tells it what to 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920240" cy="91440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1828800" cy="8595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Register</a:t>
            </a:r>
          </a:p>
          <a:p>
            <a:pPr algn="ctr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file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97480" y="2468880"/>
            <a:ext cx="96012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749039" y="2011680"/>
            <a:ext cx="1920240" cy="914400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94759" y="2039112"/>
            <a:ext cx="1828800" cy="8595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900" b="1">
                <a:solidFill>
                  <a:srgbClr val="FFFFFF"/>
                </a:solidFill>
                <a:latin typeface="Aptos"/>
              </a:defRPr>
            </a:pPr>
            <a:r>
              <a:t>ALU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2468880"/>
            <a:ext cx="91440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720840" y="2011680"/>
            <a:ext cx="2011680" cy="91440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2039112"/>
            <a:ext cx="1920240" cy="8595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63055"/>
                </a:solidFill>
                <a:latin typeface="Aptos"/>
              </a:defRPr>
            </a:pPr>
            <a:r>
              <a:t>Data memory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78240" y="2468880"/>
            <a:ext cx="86868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738360" y="2011680"/>
            <a:ext cx="1645920" cy="91440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0" y="2039112"/>
            <a:ext cx="1554480" cy="85953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Result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3886200"/>
            <a:ext cx="4023360" cy="777240"/>
          </a:xfrm>
          <a:prstGeom prst="roundRect">
            <a:avLst/>
          </a:prstGeom>
          <a:solidFill>
            <a:srgbClr val="FFF5DC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20439" y="3913632"/>
            <a:ext cx="393192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63055"/>
                </a:solidFill>
                <a:latin typeface="Aptos"/>
              </a:defRPr>
            </a:pPr>
            <a:r>
              <a:t>Control unit: decodes instruction</a:t>
            </a:r>
          </a:p>
        </p:txBody>
      </p:sp>
      <p:cxnSp>
        <p:nvCxnSpPr>
          <p:cNvPr id="21" name="Connector 20"/>
          <p:cNvCxnSpPr/>
          <p:nvPr/>
        </p:nvCxnSpPr>
        <p:spPr>
          <a:xfrm flipH="1" flipV="1">
            <a:off x="4754880" y="2971800"/>
            <a:ext cx="685800" cy="868680"/>
          </a:xfrm>
          <a:prstGeom prst="line">
            <a:avLst/>
          </a:prstGeom>
          <a:ln w="25400">
            <a:solidFill>
              <a:srgbClr val="EEB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6583680" y="2971800"/>
            <a:ext cx="1005840" cy="914400"/>
          </a:xfrm>
          <a:prstGeom prst="line">
            <a:avLst/>
          </a:prstGeom>
          <a:ln w="25400">
            <a:solidFill>
              <a:srgbClr val="EEB8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914400" y="5166360"/>
            <a:ext cx="1005840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26303C"/>
                </a:solidFill>
                <a:latin typeface="Aptos"/>
              </a:defRPr>
            </a:pPr>
            <a:r>
              <a:t>The control signals select register inputs, ALU operation, memory actions and where the result goes.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4. A single-cycle CPU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A simple model completes one instruction in one clock cycle.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1920240"/>
            <a:ext cx="205740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47672"/>
            <a:ext cx="1965960" cy="603503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63055"/>
                </a:solidFill>
                <a:latin typeface="Aptos"/>
              </a:defRPr>
            </a:pPr>
            <a:r>
              <a:t>1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163055"/>
                </a:solidFill>
                <a:latin typeface="Aptos"/>
              </a:defRPr>
            </a:pPr>
            <a:r>
              <a:t>Fetch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97480"/>
            <a:ext cx="20116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Read instruction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70048" y="2249424"/>
            <a:ext cx="256031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926079" y="1920240"/>
            <a:ext cx="205740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799" y="1947672"/>
            <a:ext cx="1965960" cy="603503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63055"/>
                </a:solidFill>
                <a:latin typeface="Aptos"/>
              </a:defRPr>
            </a:pPr>
            <a:r>
              <a:t>2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163055"/>
                </a:solidFill>
                <a:latin typeface="Aptos"/>
              </a:defRPr>
            </a:pPr>
            <a:r>
              <a:t>Decode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53511" y="2697480"/>
            <a:ext cx="20116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Identify operation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001768" y="2249424"/>
            <a:ext cx="256032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257800" y="1920240"/>
            <a:ext cx="2057400" cy="658368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947672"/>
            <a:ext cx="1965960" cy="603503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Execute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2697480"/>
            <a:ext cx="20116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ALU / address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33488" y="2249424"/>
            <a:ext cx="256032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7589520" y="1920240"/>
            <a:ext cx="205740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35240" y="1947672"/>
            <a:ext cx="1965960" cy="603503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63055"/>
                </a:solidFill>
                <a:latin typeface="Aptos"/>
              </a:defRPr>
            </a:pPr>
            <a:r>
              <a:t>4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163055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2697480"/>
            <a:ext cx="20116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Read or write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65208" y="2249424"/>
            <a:ext cx="256032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21240" y="1920240"/>
            <a:ext cx="2057400" cy="658368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0" y="1947672"/>
            <a:ext cx="1965960" cy="603503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500" b="1">
                <a:solidFill>
                  <a:srgbClr val="163055"/>
                </a:solidFill>
                <a:latin typeface="Aptos"/>
              </a:defRPr>
            </a:pPr>
            <a:r>
              <a:t>5</a:t>
            </a:r>
          </a:p>
          <a:p>
            <a:pPr algn="ctr">
              <a:spcAft>
                <a:spcPts val="500"/>
              </a:spcAft>
              <a:defRPr sz="1500" b="1">
                <a:solidFill>
                  <a:srgbClr val="163055"/>
                </a:solidFill>
                <a:latin typeface="Aptos"/>
              </a:defRPr>
            </a:pPr>
            <a:r>
              <a:t>Write-back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48672" y="2697480"/>
            <a:ext cx="20116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Save result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3977639"/>
            <a:ext cx="45720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4400" y="3977639"/>
            <a:ext cx="64008" cy="123444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4087368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Why build this first?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" y="4489704"/>
            <a:ext cx="4279392" cy="6675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It makes the full instruction path visible and easier to understand.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3977639"/>
            <a:ext cx="457200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D2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3977639"/>
            <a:ext cx="64008" cy="1234440"/>
          </a:xfrm>
          <a:prstGeom prst="rect">
            <a:avLst/>
          </a:prstGeom>
          <a:solidFill>
            <a:srgbClr val="EEB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4087368"/>
            <a:ext cx="42976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700" b="1">
                <a:solidFill>
                  <a:srgbClr val="163055"/>
                </a:solidFill>
                <a:latin typeface="Aptos"/>
              </a:defRPr>
            </a:pPr>
            <a:r>
              <a:t>Trade-off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91072" y="4489704"/>
            <a:ext cx="4279392" cy="66751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A single-cycle design is simple, but the clock must allow enough time for the slowest instruction.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6A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28600"/>
            <a:ext cx="110642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3055"/>
                </a:solidFill>
                <a:latin typeface="Aptos"/>
              </a:defRPr>
            </a:pPr>
            <a:r>
              <a:t>5. From assembly to hardware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1078992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5E6C7C"/>
                </a:solidFill>
                <a:latin typeface="Aptos"/>
              </a:defRPr>
            </a:pPr>
            <a:r>
              <a:t>An instruction passes through the CPU as encoded bits.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52760" y="201168"/>
            <a:ext cx="960120" cy="384048"/>
          </a:xfrm>
          <a:prstGeom prst="roundRect">
            <a:avLst/>
          </a:prstGeom>
          <a:solidFill>
            <a:srgbClr val="EBF3FA"/>
          </a:solidFill>
          <a:ln>
            <a:solidFill>
              <a:srgbClr val="EBF3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80192" y="228600"/>
            <a:ext cx="905256" cy="292608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000" b="1">
                <a:solidFill>
                  <a:srgbClr val="2A69AA"/>
                </a:solidFill>
                <a:latin typeface="Aptos"/>
              </a:defRPr>
            </a:pPr>
            <a:r>
              <a:t>MODULE 5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" y="1143000"/>
            <a:ext cx="11155680" cy="22860"/>
          </a:xfrm>
          <a:prstGeom prst="rect">
            <a:avLst/>
          </a:prstGeom>
          <a:solidFill>
            <a:srgbClr val="D2DD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4754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2A69AA"/>
                </a:solidFill>
                <a:latin typeface="Aptos"/>
              </a:defRPr>
            </a:pPr>
            <a:r>
              <a:t>Example assembly instruction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429768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039112"/>
            <a:ext cx="420624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2100" b="1">
                <a:solidFill>
                  <a:srgbClr val="163055"/>
                </a:solidFill>
                <a:latin typeface="Aptos"/>
              </a:defRPr>
            </a:pPr>
            <a:r>
              <a:t>add x3, x1, x2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475488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26303C"/>
                </a:solidFill>
                <a:latin typeface="Aptos"/>
              </a:defRPr>
            </a:pPr>
            <a:r>
              <a:t>Meaning: add the values in x1 and x2, then store the result in x3.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394960" y="2423160"/>
            <a:ext cx="82296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09360" y="2011680"/>
            <a:ext cx="1920240" cy="777240"/>
          </a:xfrm>
          <a:prstGeom prst="roundRect">
            <a:avLst/>
          </a:prstGeom>
          <a:solidFill>
            <a:srgbClr val="163055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39112"/>
            <a:ext cx="182880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Encoded bits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0" y="2423160"/>
            <a:ext cx="822960" cy="0"/>
          </a:xfrm>
          <a:prstGeom prst="line">
            <a:avLst/>
          </a:prstGeom>
          <a:ln w="25400">
            <a:solidFill>
              <a:srgbClr val="2A69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235440" y="2011680"/>
            <a:ext cx="2011680" cy="777240"/>
          </a:xfrm>
          <a:prstGeom prst="roundRect">
            <a:avLst/>
          </a:prstGeom>
          <a:solidFill>
            <a:srgbClr val="EBF3FA"/>
          </a:solidFill>
          <a:ln>
            <a:solidFill>
              <a:srgbClr val="2A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2039112"/>
            <a:ext cx="1920240" cy="722376"/>
          </a:xfrm>
          <a:prstGeom prst="rect">
            <a:avLst/>
          </a:prstGeom>
          <a:noFill/>
        </p:spPr>
        <p:txBody>
          <a:bodyPr wrap="none" lIns="45720" rIns="45720" anchor="ctr">
            <a:spAutoFit/>
          </a:bodyPr>
          <a:lstStyle/>
          <a:p>
            <a:pPr algn="ctr">
              <a:spcAft>
                <a:spcPts val="500"/>
              </a:spcAft>
              <a:defRPr sz="1600" b="1">
                <a:solidFill>
                  <a:srgbClr val="163055"/>
                </a:solidFill>
                <a:latin typeface="Aptos"/>
              </a:defRPr>
            </a:pPr>
            <a:r>
              <a:t>CPU executes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60520"/>
            <a:ext cx="10149840" cy="7315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5E6C7C"/>
                </a:solidFill>
                <a:latin typeface="Aptos"/>
              </a:defRPr>
            </a:pPr>
            <a:r>
              <a:t>Assembler translates human-readable assembly into machine code. The CPU decodes that code into control signals and datapath actions.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896112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DDCA  •  Module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92240"/>
            <a:ext cx="457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  <a:defRPr sz="900" b="0">
                <a:solidFill>
                  <a:srgbClr val="5E6C7C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