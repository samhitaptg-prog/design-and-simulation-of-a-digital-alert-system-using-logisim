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6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64008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2A69AA"/>
                </a:solidFill>
                <a:latin typeface="Aptos"/>
              </a:defRPr>
            </a:pPr>
            <a:r>
              <a:t>DIGITAL DESIGN &amp; COMPUTER ARCHITECTURE  •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6492240" cy="1463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3100" b="1">
                <a:solidFill>
                  <a:srgbClr val="163055"/>
                </a:solidFill>
                <a:latin typeface="Aptos"/>
              </a:defRPr>
            </a:pPr>
            <a:r>
              <a:t>Build It, Extend It, Look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063240"/>
            <a:ext cx="6217920" cy="8229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5E6C7C"/>
                </a:solidFill>
                <a:latin typeface="Aptos"/>
              </a:defRPr>
            </a:pPr>
            <a:r>
              <a:t>Integrating a working RISC-V CPU and exploring what comes next.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51960"/>
            <a:ext cx="1554479" cy="384048"/>
          </a:xfrm>
          <a:prstGeom prst="roundRect">
            <a:avLst/>
          </a:prstGeom>
          <a:solidFill>
            <a:srgbClr val="EBF3FA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4288536"/>
            <a:ext cx="1481327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2A69AA"/>
                </a:solidFill>
                <a:latin typeface="Aptos"/>
              </a:defRPr>
            </a:pPr>
            <a:r>
              <a:t>CPU integration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2303" y="4251960"/>
            <a:ext cx="1636776" cy="384048"/>
          </a:xfrm>
          <a:prstGeom prst="roundRect">
            <a:avLst/>
          </a:prstGeom>
          <a:solidFill>
            <a:srgbClr val="EBF3FA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4288536"/>
            <a:ext cx="1563624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2A69AA"/>
                </a:solidFill>
                <a:latin typeface="Aptos"/>
              </a:defRPr>
            </a:pPr>
            <a:r>
              <a:t>New instructions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15383" y="4251960"/>
            <a:ext cx="1143000" cy="384048"/>
          </a:xfrm>
          <a:prstGeom prst="roundRect">
            <a:avLst/>
          </a:prstGeom>
          <a:solidFill>
            <a:srgbClr val="EBF3FA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59" y="4288536"/>
            <a:ext cx="1069848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2A69AA"/>
                </a:solidFill>
                <a:latin typeface="Aptos"/>
              </a:defRPr>
            </a:pPr>
            <a:r>
              <a:t>I/O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04688" y="4251960"/>
            <a:ext cx="1225295" cy="384048"/>
          </a:xfrm>
          <a:prstGeom prst="roundRect">
            <a:avLst/>
          </a:prstGeom>
          <a:solidFill>
            <a:srgbClr val="EBF3FA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41264" y="4288536"/>
            <a:ext cx="1152143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2A69AA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08760"/>
            <a:ext cx="2377440" cy="731520"/>
          </a:xfrm>
          <a:prstGeom prst="roundRect">
            <a:avLst/>
          </a:prstGeom>
          <a:solidFill>
            <a:srgbClr val="163055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536192"/>
            <a:ext cx="2286000" cy="67665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CPU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2743200"/>
            <a:ext cx="1554480" cy="658368"/>
          </a:xfrm>
          <a:prstGeom prst="roundRect">
            <a:avLst/>
          </a:prstGeom>
          <a:solidFill>
            <a:srgbClr val="EBF3F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80" y="2770632"/>
            <a:ext cx="1463039" cy="603503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63055"/>
                </a:solidFill>
                <a:latin typeface="Aptos"/>
              </a:defRPr>
            </a:pPr>
            <a:r>
              <a:t>REGISTERS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2743200"/>
            <a:ext cx="1554480" cy="658368"/>
          </a:xfrm>
          <a:prstGeom prst="roundRect">
            <a:avLst/>
          </a:prstGeom>
          <a:solidFill>
            <a:srgbClr val="EBF3F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20" y="2770632"/>
            <a:ext cx="1463039" cy="603503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63055"/>
                </a:solidFill>
                <a:latin typeface="Aptos"/>
              </a:defRPr>
            </a:pPr>
            <a:r>
              <a:t>MEMORY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8458200" y="2240280"/>
            <a:ext cx="457200" cy="50292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829800" y="2240280"/>
            <a:ext cx="457200" cy="50292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6080760"/>
            <a:ext cx="68580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5E6C7C"/>
                </a:solidFill>
                <a:latin typeface="Aptos"/>
              </a:defRPr>
            </a:pPr>
            <a:r>
              <a:t>Concepts → architecture → working computer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10528"/>
            <a:ext cx="89611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E6C7C"/>
                </a:solidFill>
                <a:latin typeface="Aptos"/>
              </a:defRPr>
            </a:pPr>
            <a:r>
              <a:t>DDCA  •  Module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92240"/>
            <a:ext cx="457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E6C7C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6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06424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3055"/>
                </a:solidFill>
                <a:latin typeface="Aptos"/>
              </a:defRPr>
            </a:pPr>
            <a:r>
              <a:t>1. Bring the CPU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E6C7C"/>
                </a:solidFill>
                <a:latin typeface="Aptos"/>
              </a:defRPr>
            </a:pPr>
            <a:r>
              <a:t>The capstone connects previously designed blocks into one working processor.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52760" y="201168"/>
            <a:ext cx="960120" cy="384048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80192" y="228600"/>
            <a:ext cx="905256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2A69AA"/>
                </a:solidFill>
                <a:latin typeface="Aptos"/>
              </a:defRPr>
            </a:pPr>
            <a:r>
              <a:t>MODULE 6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143000"/>
            <a:ext cx="11155680" cy="22860"/>
          </a:xfrm>
          <a:prstGeom prst="rect">
            <a:avLst/>
          </a:prstGeom>
          <a:solidFill>
            <a:srgbClr val="D2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2286000" cy="777240"/>
          </a:xfrm>
          <a:prstGeom prst="roundRect">
            <a:avLst/>
          </a:prstGeom>
          <a:solidFill>
            <a:srgbClr val="EBF3F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73352"/>
            <a:ext cx="2194560" cy="72237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63055"/>
                </a:solidFill>
                <a:latin typeface="Aptos"/>
              </a:defRPr>
            </a:pPr>
            <a:r>
              <a:t>PC</a:t>
            </a:r>
          </a:p>
          <a:p>
            <a:pPr algn="ctr">
              <a:spcAft>
                <a:spcPts val="500"/>
              </a:spcAft>
              <a:defRPr sz="1300" b="1">
                <a:solidFill>
                  <a:srgbClr val="163055"/>
                </a:solidFill>
                <a:latin typeface="Aptos"/>
              </a:defRPr>
            </a:pPr>
            <a:r>
              <a:t>Next instruction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645920"/>
            <a:ext cx="2286000" cy="777240"/>
          </a:xfrm>
          <a:prstGeom prst="roundRect">
            <a:avLst/>
          </a:prstGeom>
          <a:solidFill>
            <a:srgbClr val="EBF3F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673352"/>
            <a:ext cx="2194560" cy="72237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63055"/>
                </a:solidFill>
                <a:latin typeface="Aptos"/>
              </a:defRPr>
            </a:pPr>
            <a:r>
              <a:t>Instruction memory</a:t>
            </a:r>
          </a:p>
          <a:p>
            <a:pPr algn="ctr">
              <a:spcAft>
                <a:spcPts val="500"/>
              </a:spcAft>
              <a:defRPr sz="1300" b="1">
                <a:solidFill>
                  <a:srgbClr val="163055"/>
                </a:solidFill>
                <a:latin typeface="Aptos"/>
              </a:defRPr>
            </a:pPr>
            <a:r>
              <a:t>Instruction bits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1645920"/>
            <a:ext cx="2286000" cy="777240"/>
          </a:xfrm>
          <a:prstGeom prst="roundRect">
            <a:avLst/>
          </a:prstGeom>
          <a:solidFill>
            <a:srgbClr val="EBF3F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1673352"/>
            <a:ext cx="2194560" cy="72237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63055"/>
                </a:solidFill>
                <a:latin typeface="Aptos"/>
              </a:defRPr>
            </a:pPr>
            <a:r>
              <a:t>Register file</a:t>
            </a:r>
          </a:p>
          <a:p>
            <a:pPr algn="ctr">
              <a:spcAft>
                <a:spcPts val="500"/>
              </a:spcAft>
              <a:defRPr sz="1300" b="1">
                <a:solidFill>
                  <a:srgbClr val="163055"/>
                </a:solidFill>
                <a:latin typeface="Aptos"/>
              </a:defRPr>
            </a:pPr>
            <a:r>
              <a:t>Operands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37560"/>
            <a:ext cx="2286000" cy="777240"/>
          </a:xfrm>
          <a:prstGeom prst="roundRect">
            <a:avLst/>
          </a:prstGeom>
          <a:solidFill>
            <a:srgbClr val="EBF3F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64991"/>
            <a:ext cx="2194560" cy="72237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63055"/>
                </a:solidFill>
                <a:latin typeface="Aptos"/>
              </a:defRPr>
            </a:pPr>
            <a:r>
              <a:t>ALU</a:t>
            </a:r>
          </a:p>
          <a:p>
            <a:pPr algn="ctr">
              <a:spcAft>
                <a:spcPts val="500"/>
              </a:spcAft>
              <a:defRPr sz="1300" b="1">
                <a:solidFill>
                  <a:srgbClr val="163055"/>
                </a:solidFill>
                <a:latin typeface="Aptos"/>
              </a:defRPr>
            </a:pPr>
            <a:r>
              <a:t>Calculation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3337560"/>
            <a:ext cx="2286000" cy="777240"/>
          </a:xfrm>
          <a:prstGeom prst="roundRect">
            <a:avLst/>
          </a:prstGeom>
          <a:solidFill>
            <a:srgbClr val="EBF3F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3364991"/>
            <a:ext cx="2194560" cy="72237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63055"/>
                </a:solidFill>
                <a:latin typeface="Aptos"/>
              </a:defRPr>
            </a:pPr>
            <a:r>
              <a:t>Data memory</a:t>
            </a:r>
          </a:p>
          <a:p>
            <a:pPr algn="ctr">
              <a:spcAft>
                <a:spcPts val="500"/>
              </a:spcAft>
              <a:defRPr sz="1300" b="1">
                <a:solidFill>
                  <a:srgbClr val="163055"/>
                </a:solidFill>
                <a:latin typeface="Aptos"/>
              </a:defRPr>
            </a:pPr>
            <a:r>
              <a:t>Load / store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3337560"/>
            <a:ext cx="2286000" cy="777240"/>
          </a:xfrm>
          <a:prstGeom prst="roundRect">
            <a:avLst/>
          </a:prstGeom>
          <a:solidFill>
            <a:srgbClr val="163055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3364991"/>
            <a:ext cx="2194560" cy="72237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Control</a:t>
            </a:r>
          </a:p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Selects actions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0" y="2468880"/>
            <a:ext cx="1828800" cy="914400"/>
          </a:xfrm>
          <a:prstGeom prst="roundRect">
            <a:avLst/>
          </a:prstGeom>
          <a:solidFill>
            <a:srgbClr val="E2F5EB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55480" y="2496312"/>
            <a:ext cx="1737360" cy="85953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409168"/>
                </a:solidFill>
                <a:latin typeface="Aptos"/>
              </a:defRPr>
            </a:pPr>
            <a:r>
              <a:t>Working</a:t>
            </a:r>
          </a:p>
          <a:p>
            <a:pPr algn="ctr">
              <a:spcAft>
                <a:spcPts val="500"/>
              </a:spcAft>
              <a:defRPr sz="1700" b="1">
                <a:solidFill>
                  <a:srgbClr val="409168"/>
                </a:solidFill>
                <a:latin typeface="Aptos"/>
              </a:defRPr>
            </a:pPr>
            <a:r>
              <a:t>RISC-V CPU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926080" y="2011680"/>
            <a:ext cx="6583680" cy="914400"/>
          </a:xfrm>
          <a:prstGeom prst="line">
            <a:avLst/>
          </a:prstGeom>
          <a:ln w="1905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943600" y="2011680"/>
            <a:ext cx="3566160" cy="914400"/>
          </a:xfrm>
          <a:prstGeom prst="line">
            <a:avLst/>
          </a:prstGeom>
          <a:ln w="1905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52560" y="2011680"/>
            <a:ext cx="457200" cy="914400"/>
          </a:xfrm>
          <a:prstGeom prst="line">
            <a:avLst/>
          </a:prstGeom>
          <a:ln w="1905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926080" y="2926080"/>
            <a:ext cx="6583680" cy="777240"/>
          </a:xfrm>
          <a:prstGeom prst="line">
            <a:avLst/>
          </a:prstGeom>
          <a:ln w="1905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943600" y="2926080"/>
            <a:ext cx="3566160" cy="777240"/>
          </a:xfrm>
          <a:prstGeom prst="line">
            <a:avLst/>
          </a:prstGeom>
          <a:ln w="1905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052560" y="2926080"/>
            <a:ext cx="457200" cy="777240"/>
          </a:xfrm>
          <a:prstGeom prst="line">
            <a:avLst/>
          </a:prstGeom>
          <a:ln w="1905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22960" y="4892040"/>
            <a:ext cx="1042416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3055"/>
                </a:solidFill>
                <a:latin typeface="Aptos"/>
              </a:defRPr>
            </a:pPr>
            <a:r>
              <a:t>Milestone: run a small program from start to finish and verify each instruction's result.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10528"/>
            <a:ext cx="89611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E6C7C"/>
                </a:solidFill>
                <a:latin typeface="Aptos"/>
              </a:defRPr>
            </a:pPr>
            <a:r>
              <a:t>DDCA  •  Module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92240"/>
            <a:ext cx="457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E6C7C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6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06424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3055"/>
                </a:solidFill>
                <a:latin typeface="Aptos"/>
              </a:defRPr>
            </a:pPr>
            <a:r>
              <a:t>2. Extending the instruction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E6C7C"/>
                </a:solidFill>
                <a:latin typeface="Aptos"/>
              </a:defRPr>
            </a:pPr>
            <a:r>
              <a:t>A new instruction requires coordinated hardware and control changes.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52760" y="201168"/>
            <a:ext cx="960120" cy="384048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80192" y="228600"/>
            <a:ext cx="905256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2A69AA"/>
                </a:solidFill>
                <a:latin typeface="Aptos"/>
              </a:defRPr>
            </a:pPr>
            <a:r>
              <a:t>MODULE 6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143000"/>
            <a:ext cx="11155680" cy="22860"/>
          </a:xfrm>
          <a:prstGeom prst="rect">
            <a:avLst/>
          </a:prstGeom>
          <a:solidFill>
            <a:srgbClr val="D2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057400" cy="822960"/>
          </a:xfrm>
          <a:prstGeom prst="roundRect">
            <a:avLst/>
          </a:prstGeom>
          <a:solidFill>
            <a:srgbClr val="EBF3F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56231"/>
            <a:ext cx="1965960" cy="7680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63055"/>
                </a:solidFill>
                <a:latin typeface="Aptos"/>
              </a:defRPr>
            </a:pPr>
            <a:r>
              <a:t>Define instruction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34640" y="2240280"/>
            <a:ext cx="594360" cy="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20440" y="1828800"/>
            <a:ext cx="2057400" cy="822960"/>
          </a:xfrm>
          <a:prstGeom prst="roundRect">
            <a:avLst/>
          </a:prstGeom>
          <a:solidFill>
            <a:srgbClr val="EBF3F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856231"/>
            <a:ext cx="1965960" cy="7680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63055"/>
                </a:solidFill>
                <a:latin typeface="Aptos"/>
              </a:defRPr>
            </a:pPr>
            <a:r>
              <a:t>Decode it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23560" y="2240280"/>
            <a:ext cx="594360" cy="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309360" y="1828800"/>
            <a:ext cx="2057400" cy="822960"/>
          </a:xfrm>
          <a:prstGeom prst="roundRect">
            <a:avLst/>
          </a:prstGeom>
          <a:solidFill>
            <a:srgbClr val="EBF3F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856231"/>
            <a:ext cx="1965960" cy="7680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63055"/>
                </a:solidFill>
                <a:latin typeface="Aptos"/>
              </a:defRPr>
            </a:pPr>
            <a:r>
              <a:t>Datapath action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12480" y="2240280"/>
            <a:ext cx="594360" cy="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098280" y="1828800"/>
            <a:ext cx="2057400" cy="822960"/>
          </a:xfrm>
          <a:prstGeom prst="roundRect">
            <a:avLst/>
          </a:prstGeom>
          <a:solidFill>
            <a:srgbClr val="163055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856231"/>
            <a:ext cx="1965960" cy="7680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Test program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474720"/>
            <a:ext cx="4663440" cy="1325880"/>
          </a:xfrm>
          <a:prstGeom prst="roundRect">
            <a:avLst/>
          </a:prstGeom>
          <a:solidFill>
            <a:srgbClr val="F5F8FC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3474720"/>
            <a:ext cx="64008" cy="1325880"/>
          </a:xfrm>
          <a:prstGeom prst="rect">
            <a:avLst/>
          </a:prstGeom>
          <a:solidFill>
            <a:srgbClr val="36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3584448"/>
            <a:ext cx="43891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3055"/>
                </a:solidFill>
                <a:latin typeface="Aptos"/>
              </a:defRPr>
            </a:pPr>
            <a:r>
              <a:t>Example extension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3986783"/>
            <a:ext cx="4370831" cy="7589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6303C"/>
                </a:solidFill>
                <a:latin typeface="Aptos"/>
              </a:defRPr>
            </a:pPr>
            <a:r>
              <a:t>Add an operation such as XOR or a simple branch condition.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474720"/>
            <a:ext cx="4663440" cy="1325880"/>
          </a:xfrm>
          <a:prstGeom prst="roundRect">
            <a:avLst/>
          </a:prstGeom>
          <a:solidFill>
            <a:srgbClr val="F5F8FC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474720"/>
            <a:ext cx="64008" cy="1325880"/>
          </a:xfrm>
          <a:prstGeom prst="rect">
            <a:avLst/>
          </a:prstGeom>
          <a:solidFill>
            <a:srgbClr val="EE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3584448"/>
            <a:ext cx="43891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3055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3986783"/>
            <a:ext cx="4370831" cy="7589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6303C"/>
                </a:solidFill>
                <a:latin typeface="Aptos"/>
              </a:defRPr>
            </a:pPr>
            <a:r>
              <a:t>The instruction set, control logic and datapath must agree on what the instruction means.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10528"/>
            <a:ext cx="89611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E6C7C"/>
                </a:solidFill>
                <a:latin typeface="Aptos"/>
              </a:defRPr>
            </a:pPr>
            <a:r>
              <a:t>DDCA  •  Module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92240"/>
            <a:ext cx="457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E6C7C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6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06424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3055"/>
                </a:solidFill>
                <a:latin typeface="Aptos"/>
              </a:defRPr>
            </a:pPr>
            <a:r>
              <a:t>3. Memory-mapped input /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E6C7C"/>
                </a:solidFill>
                <a:latin typeface="Aptos"/>
              </a:defRPr>
            </a:pPr>
            <a:r>
              <a:t>A device can be controlled by reading or writing a special address.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52760" y="201168"/>
            <a:ext cx="960120" cy="384048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80192" y="228600"/>
            <a:ext cx="905256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2A69AA"/>
                </a:solidFill>
                <a:latin typeface="Aptos"/>
              </a:defRPr>
            </a:pPr>
            <a:r>
              <a:t>MODULE 6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143000"/>
            <a:ext cx="11155680" cy="22860"/>
          </a:xfrm>
          <a:prstGeom prst="rect">
            <a:avLst/>
          </a:prstGeom>
          <a:solidFill>
            <a:srgbClr val="D2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2194560" cy="914400"/>
          </a:xfrm>
          <a:prstGeom prst="roundRect">
            <a:avLst/>
          </a:prstGeom>
          <a:solidFill>
            <a:srgbClr val="163055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93391"/>
            <a:ext cx="2103120" cy="85953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CPU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63240" y="2423160"/>
            <a:ext cx="1051560" cy="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206240" y="1874519"/>
            <a:ext cx="2834640" cy="1097280"/>
          </a:xfrm>
          <a:prstGeom prst="roundRect">
            <a:avLst/>
          </a:prstGeom>
          <a:solidFill>
            <a:srgbClr val="EBF3F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59" y="1901951"/>
            <a:ext cx="2743200" cy="1042415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163055"/>
                </a:solidFill>
                <a:latin typeface="Aptos"/>
              </a:defRPr>
            </a:pPr>
            <a:r>
              <a:t>Address / data bus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86600" y="2423160"/>
            <a:ext cx="1051560" cy="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29600" y="1965960"/>
            <a:ext cx="2560320" cy="914400"/>
          </a:xfrm>
          <a:prstGeom prst="roundRect">
            <a:avLst/>
          </a:prstGeom>
          <a:solidFill>
            <a:srgbClr val="EBF3F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993391"/>
            <a:ext cx="2468879" cy="85953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163055"/>
                </a:solidFill>
                <a:latin typeface="Aptos"/>
              </a:defRPr>
            </a:pPr>
            <a:r>
              <a:t>LEDs / switches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49039"/>
            <a:ext cx="10149840" cy="6858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6303C"/>
                </a:solidFill>
                <a:latin typeface="Aptos"/>
              </a:defRPr>
            </a:pPr>
            <a:r>
              <a:t>Memory-mapped I/O assigns device controls to addresses. A store can change an output; a load can read an input.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663440"/>
            <a:ext cx="9875520" cy="822960"/>
          </a:xfrm>
          <a:prstGeom prst="roundRect">
            <a:avLst/>
          </a:prstGeom>
          <a:solidFill>
            <a:srgbClr val="F5F8FC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663440"/>
            <a:ext cx="64008" cy="822960"/>
          </a:xfrm>
          <a:prstGeom prst="rect">
            <a:avLst/>
          </a:prstGeom>
          <a:solidFill>
            <a:srgbClr val="36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773168"/>
            <a:ext cx="96012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3055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5175504"/>
            <a:ext cx="9582912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03C"/>
                </a:solidFill>
                <a:latin typeface="Aptos"/>
              </a:defRPr>
            </a:pPr>
            <a:r>
              <a:t>A small program writes a value to an LED display address to turn selected LEDs 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10528"/>
            <a:ext cx="89611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E6C7C"/>
                </a:solidFill>
                <a:latin typeface="Aptos"/>
              </a:defRPr>
            </a:pPr>
            <a:r>
              <a:t>DDCA  •  Module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92240"/>
            <a:ext cx="457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E6C7C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6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06424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3055"/>
                </a:solidFill>
                <a:latin typeface="Aptos"/>
              </a:defRPr>
            </a:pPr>
            <a:r>
              <a:t>4. Performance: what can slow a CPU down?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E6C7C"/>
                </a:solidFill>
                <a:latin typeface="Aptos"/>
              </a:defRPr>
            </a:pPr>
            <a:r>
              <a:t>Performance is more than just the number of clock cycles.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52760" y="201168"/>
            <a:ext cx="960120" cy="384048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80192" y="228600"/>
            <a:ext cx="905256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2A69AA"/>
                </a:solidFill>
                <a:latin typeface="Aptos"/>
              </a:defRPr>
            </a:pPr>
            <a:r>
              <a:t>MODULE 6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143000"/>
            <a:ext cx="11155680" cy="22860"/>
          </a:xfrm>
          <a:prstGeom prst="rect">
            <a:avLst/>
          </a:prstGeom>
          <a:solidFill>
            <a:srgbClr val="D2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338328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64008" cy="1417320"/>
          </a:xfrm>
          <a:prstGeom prst="rect">
            <a:avLst/>
          </a:prstGeom>
          <a:solidFill>
            <a:srgbClr val="36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664207"/>
            <a:ext cx="31089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3055"/>
                </a:solidFill>
                <a:latin typeface="Aptos"/>
              </a:defRPr>
            </a:pPr>
            <a:r>
              <a:t>Clock period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066543"/>
            <a:ext cx="3090672" cy="8503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6303C"/>
                </a:solidFill>
                <a:latin typeface="Aptos"/>
              </a:defRPr>
            </a:pPr>
            <a:r>
              <a:t>How long one clock cycle takes.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38328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554480"/>
            <a:ext cx="64008" cy="1417320"/>
          </a:xfrm>
          <a:prstGeom prst="rect">
            <a:avLst/>
          </a:prstGeom>
          <a:solidFill>
            <a:srgbClr val="2A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64207"/>
            <a:ext cx="31089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3055"/>
                </a:solidFill>
                <a:latin typeface="Aptos"/>
              </a:defRPr>
            </a:pPr>
            <a:r>
              <a:t>CPI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066543"/>
            <a:ext cx="3090672" cy="8503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6303C"/>
                </a:solidFill>
                <a:latin typeface="Aptos"/>
              </a:defRPr>
            </a:pPr>
            <a:r>
              <a:t>Average clock cycles per instruction.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554480"/>
            <a:ext cx="338328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554480"/>
            <a:ext cx="64008" cy="1417320"/>
          </a:xfrm>
          <a:prstGeom prst="rect">
            <a:avLst/>
          </a:prstGeom>
          <a:solidFill>
            <a:srgbClr val="EE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2" y="1664207"/>
            <a:ext cx="31089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3055"/>
                </a:solidFill>
                <a:latin typeface="Aptos"/>
              </a:defRPr>
            </a:pPr>
            <a:r>
              <a:t>Instruction count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2066543"/>
            <a:ext cx="3090672" cy="8503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6303C"/>
                </a:solidFill>
                <a:latin typeface="Aptos"/>
              </a:defRPr>
            </a:pPr>
            <a:r>
              <a:t>How many instructions the program executes.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337560"/>
            <a:ext cx="1024128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163055"/>
                </a:solidFill>
                <a:latin typeface="Aptos"/>
              </a:defRPr>
            </a:pPr>
            <a:r>
              <a:t>A useful relationship: CPU time ≈ instruction count × CPI × clock-cycle time.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206240"/>
            <a:ext cx="9966960" cy="6858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600" b="0">
                <a:solidFill>
                  <a:srgbClr val="26303C"/>
                </a:solidFill>
                <a:latin typeface="Aptos"/>
              </a:defRPr>
            </a:pPr>
            <a:r>
              <a:t>Possible improvements include pipelining, better cache behaviour and reducing unnecessary work.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10528"/>
            <a:ext cx="89611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E6C7C"/>
                </a:solidFill>
                <a:latin typeface="Aptos"/>
              </a:defRPr>
            </a:pPr>
            <a:r>
              <a:t>DDCA  •  Module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92240"/>
            <a:ext cx="457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E6C7C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6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06424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3055"/>
                </a:solidFill>
                <a:latin typeface="Aptos"/>
              </a:defRPr>
            </a:pPr>
            <a:r>
              <a:t>5. Looking ahead: modern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E6C7C"/>
                </a:solidFill>
                <a:latin typeface="Aptos"/>
              </a:defRPr>
            </a:pPr>
            <a:r>
              <a:t>The simple CPU is a foundation for more advanced systems.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52760" y="201168"/>
            <a:ext cx="960120" cy="384048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80192" y="228600"/>
            <a:ext cx="905256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2A69AA"/>
                </a:solidFill>
                <a:latin typeface="Aptos"/>
              </a:defRPr>
            </a:pPr>
            <a:r>
              <a:t>MODULE 6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143000"/>
            <a:ext cx="11155680" cy="22860"/>
          </a:xfrm>
          <a:prstGeom prst="rect">
            <a:avLst/>
          </a:prstGeom>
          <a:solidFill>
            <a:srgbClr val="D2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3383280" cy="1508760"/>
          </a:xfrm>
          <a:prstGeom prst="roundRect">
            <a:avLst/>
          </a:prstGeom>
          <a:solidFill>
            <a:srgbClr val="F5F8FC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64008" cy="1508760"/>
          </a:xfrm>
          <a:prstGeom prst="rect">
            <a:avLst/>
          </a:prstGeom>
          <a:solidFill>
            <a:srgbClr val="36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709928"/>
            <a:ext cx="31089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3055"/>
                </a:solidFill>
                <a:latin typeface="Aptos"/>
              </a:defRPr>
            </a:pPr>
            <a:r>
              <a:t>Pipelining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112264"/>
            <a:ext cx="3090672" cy="941831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6303C"/>
                </a:solidFill>
                <a:latin typeface="Aptos"/>
              </a:defRPr>
            </a:pPr>
            <a:r>
              <a:t>Overlap instruction stages so different instructions can be processed at the same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3383280" cy="1508760"/>
          </a:xfrm>
          <a:prstGeom prst="roundRect">
            <a:avLst/>
          </a:prstGeom>
          <a:solidFill>
            <a:srgbClr val="F5F8FC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600200"/>
            <a:ext cx="64008" cy="1508760"/>
          </a:xfrm>
          <a:prstGeom prst="rect">
            <a:avLst/>
          </a:prstGeom>
          <a:solidFill>
            <a:srgbClr val="2A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709928"/>
            <a:ext cx="31089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3055"/>
                </a:solidFill>
                <a:latin typeface="Aptos"/>
              </a:defRPr>
            </a:pPr>
            <a:r>
              <a:t>Caches &amp; hierarchy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112264"/>
            <a:ext cx="3090672" cy="941831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6303C"/>
                </a:solidFill>
                <a:latin typeface="Aptos"/>
              </a:defRPr>
            </a:pPr>
            <a:r>
              <a:t>Keep frequently used data close to the CPU to reduce waiting.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00200"/>
            <a:ext cx="3383280" cy="1508760"/>
          </a:xfrm>
          <a:prstGeom prst="roundRect">
            <a:avLst/>
          </a:prstGeom>
          <a:solidFill>
            <a:srgbClr val="F5F8FC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600200"/>
            <a:ext cx="64008" cy="1508760"/>
          </a:xfrm>
          <a:prstGeom prst="rect">
            <a:avLst/>
          </a:prstGeom>
          <a:solidFill>
            <a:srgbClr val="EE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2" y="1709928"/>
            <a:ext cx="31089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3055"/>
                </a:solidFill>
                <a:latin typeface="Aptos"/>
              </a:defRPr>
            </a:pPr>
            <a:r>
              <a:t>Parallelism &amp; embedded systems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2112264"/>
            <a:ext cx="3090672" cy="941831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6303C"/>
                </a:solidFill>
                <a:latin typeface="Aptos"/>
              </a:defRPr>
            </a:pPr>
            <a:r>
              <a:t>Multiple operations and specialised hardware support devices from microcontrollers to AI accelerators.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794760"/>
            <a:ext cx="10149840" cy="8229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63055"/>
                </a:solidFill>
                <a:latin typeface="Aptos"/>
              </a:defRPr>
            </a:pPr>
            <a:r>
              <a:t>Core takeaway: a working CPU is not the end point—it is a platform that can be extended, measured and improved.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83480"/>
            <a:ext cx="1014984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2A69AA"/>
                </a:solidFill>
                <a:latin typeface="Aptos"/>
              </a:defRPr>
            </a:pPr>
            <a:r>
              <a:t>Build → test → extend → measure → optimise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10528"/>
            <a:ext cx="89611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E6C7C"/>
                </a:solidFill>
                <a:latin typeface="Aptos"/>
              </a:defRPr>
            </a:pPr>
            <a:r>
              <a:t>DDCA  •  Module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92240"/>
            <a:ext cx="457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E6C7C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